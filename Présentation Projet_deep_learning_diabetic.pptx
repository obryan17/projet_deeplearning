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2"/>
  </p:notesMasterIdLst>
  <p:sldIdLst>
    <p:sldId id="256" r:id="rId2"/>
    <p:sldId id="258" r:id="rId3"/>
    <p:sldId id="262" r:id="rId4"/>
    <p:sldId id="275" r:id="rId5"/>
    <p:sldId id="259" r:id="rId6"/>
    <p:sldId id="263" r:id="rId7"/>
    <p:sldId id="273" r:id="rId8"/>
    <p:sldId id="276" r:id="rId9"/>
    <p:sldId id="272" r:id="rId10"/>
    <p:sldId id="274" r:id="rId11"/>
  </p:sldIdLst>
  <p:sldSz cx="18288000" cy="10287000"/>
  <p:notesSz cx="6858000" cy="9144000"/>
  <p:embeddedFontLst>
    <p:embeddedFont>
      <p:font typeface="Agrandir" panose="020B0604020202020204" charset="0"/>
      <p:regular r:id="rId13"/>
    </p:embeddedFont>
    <p:embeddedFont>
      <p:font typeface="Calibri" panose="020F0502020204030204" pitchFamily="34" charset="0"/>
      <p:regular r:id="rId14"/>
      <p:bold r:id="rId15"/>
      <p:italic r:id="rId16"/>
      <p:boldItalic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32" d="100"/>
          <a:sy n="32" d="100"/>
        </p:scale>
        <p:origin x="29" y="11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4B76A3-A022-48CF-9D1C-96680E381816}" type="datetimeFigureOut">
              <a:rPr lang="fr-FR" smtClean="0"/>
              <a:t>29/01/2026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5E086F-8C4E-460F-9291-E1AAE9C1459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245165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5E086F-8C4E-460F-9291-E1AAE9C14599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325261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5E086F-8C4E-460F-9291-E1AAE9C14599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85150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5E086F-8C4E-460F-9291-E1AAE9C14599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148216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5E086F-8C4E-460F-9291-E1AAE9C14599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287382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5E086F-8C4E-460F-9291-E1AAE9C14599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181565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5E086F-8C4E-460F-9291-E1AAE9C14599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647011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gif"/><Relationship Id="rId4" Type="http://schemas.openxmlformats.org/officeDocument/2006/relationships/image" Target="../media/image2.gi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gi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gi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gif"/><Relationship Id="rId5" Type="http://schemas.openxmlformats.org/officeDocument/2006/relationships/image" Target="../media/image7.gif"/><Relationship Id="rId4" Type="http://schemas.openxmlformats.org/officeDocument/2006/relationships/image" Target="../media/image1.gi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gif"/><Relationship Id="rId5" Type="http://schemas.openxmlformats.org/officeDocument/2006/relationships/image" Target="../media/image7.gif"/><Relationship Id="rId4" Type="http://schemas.openxmlformats.org/officeDocument/2006/relationships/image" Target="../media/image1.gi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gif"/><Relationship Id="rId5" Type="http://schemas.openxmlformats.org/officeDocument/2006/relationships/image" Target="../media/image7.gif"/><Relationship Id="rId4" Type="http://schemas.openxmlformats.org/officeDocument/2006/relationships/image" Target="../media/image1.gi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gif"/><Relationship Id="rId4" Type="http://schemas.openxmlformats.org/officeDocument/2006/relationships/image" Target="../media/image7.gi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gif"/><Relationship Id="rId4" Type="http://schemas.openxmlformats.org/officeDocument/2006/relationships/image" Target="../media/image7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alphaModFix amt="25000"/>
          </a:blip>
          <a:srcRect/>
          <a:stretch>
            <a:fillRect/>
          </a:stretch>
        </p:blipFill>
        <p:spPr>
          <a:xfrm rot="-10800000">
            <a:off x="6400800" y="-2476500"/>
            <a:ext cx="15735219" cy="13881357"/>
          </a:xfrm>
          <a:prstGeom prst="rect">
            <a:avLst/>
          </a:prstGeom>
        </p:spPr>
      </p:pic>
      <p:grpSp>
        <p:nvGrpSpPr>
          <p:cNvPr id="3" name="Group 3"/>
          <p:cNvGrpSpPr/>
          <p:nvPr/>
        </p:nvGrpSpPr>
        <p:grpSpPr>
          <a:xfrm>
            <a:off x="1295400" y="1358895"/>
            <a:ext cx="15087600" cy="7264557"/>
            <a:chOff x="-1461161" y="-3056682"/>
            <a:chExt cx="20116799" cy="6444010"/>
          </a:xfrm>
        </p:grpSpPr>
        <p:sp>
          <p:nvSpPr>
            <p:cNvPr id="4" name="TextBox 4"/>
            <p:cNvSpPr txBox="1"/>
            <p:nvPr/>
          </p:nvSpPr>
          <p:spPr>
            <a:xfrm>
              <a:off x="570839" y="-3056682"/>
              <a:ext cx="17639638" cy="445010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13667"/>
                </a:lnSpc>
              </a:pPr>
              <a:r>
                <a:rPr lang="fr-FR" sz="5400" b="1" dirty="0"/>
                <a:t>Développement d'un Modèle de Deep Learning pour la prédiction du diabète à grande échelle.</a:t>
              </a:r>
              <a:endParaRPr lang="en-US" sz="5400" b="1" dirty="0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-1461161" y="2931567"/>
              <a:ext cx="20116799" cy="45576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4206"/>
                </a:lnSpc>
                <a:spcBef>
                  <a:spcPct val="0"/>
                </a:spcBef>
              </a:pPr>
              <a:r>
                <a:rPr lang="fr-FR" sz="3200" dirty="0"/>
                <a:t>Présentation par Ahmed </a:t>
              </a:r>
              <a:r>
                <a:rPr lang="fr-FR" sz="3200" b="1" dirty="0"/>
                <a:t>PHILIPPE</a:t>
              </a:r>
              <a:r>
                <a:rPr lang="fr-FR" sz="3200" dirty="0"/>
                <a:t>  </a:t>
              </a:r>
              <a:r>
                <a:rPr lang="fr-FR" sz="3200" dirty="0" err="1"/>
                <a:t>Biolohf</a:t>
              </a:r>
              <a:r>
                <a:rPr lang="fr-FR" sz="3200" dirty="0"/>
                <a:t> </a:t>
              </a:r>
              <a:r>
                <a:rPr lang="fr-FR" sz="3200" b="1" dirty="0"/>
                <a:t>TCHATCHOUA TETSA</a:t>
              </a:r>
              <a:r>
                <a:rPr lang="fr-FR" sz="3200" dirty="0"/>
                <a:t>  Grace </a:t>
              </a:r>
              <a:r>
                <a:rPr lang="fr-FR" sz="3200" b="1" dirty="0"/>
                <a:t>AWOUTE</a:t>
              </a:r>
              <a:r>
                <a:rPr lang="fr-FR" sz="3200" dirty="0"/>
                <a:t> </a:t>
              </a:r>
              <a:endParaRPr lang="en-US" sz="3004" dirty="0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endParaRPr>
            </a:p>
          </p:txBody>
        </p:sp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4">
            <a:alphaModFix amt="50000"/>
          </a:blip>
          <a:srcRect/>
          <a:stretch>
            <a:fillRect/>
          </a:stretch>
        </p:blipFill>
        <p:spPr>
          <a:xfrm>
            <a:off x="-2318726" y="-376453"/>
            <a:ext cx="9743013" cy="1709948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>
            <a:alphaModFix amt="25000"/>
          </a:blip>
          <a:srcRect/>
          <a:stretch>
            <a:fillRect/>
          </a:stretch>
        </p:blipFill>
        <p:spPr>
          <a:xfrm rot="-7199120">
            <a:off x="-2896988" y="-1002021"/>
            <a:ext cx="5793977" cy="589544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alphaModFix amt="25000"/>
          </a:blip>
          <a:srcRect/>
          <a:stretch>
            <a:fillRect/>
          </a:stretch>
        </p:blipFill>
        <p:spPr>
          <a:xfrm rot="3203220">
            <a:off x="10055853" y="-265970"/>
            <a:ext cx="11814494" cy="12461864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>
            <a:alphaModFix amt="25000"/>
          </a:blip>
          <a:srcRect/>
          <a:stretch>
            <a:fillRect/>
          </a:stretch>
        </p:blipFill>
        <p:spPr>
          <a:xfrm rot="-5741405">
            <a:off x="8316155" y="8504485"/>
            <a:ext cx="4865516" cy="6168780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-2133600" y="1281192"/>
            <a:ext cx="17221200" cy="6770508"/>
            <a:chOff x="0" y="-174609"/>
            <a:chExt cx="12960283" cy="12018322"/>
          </a:xfrm>
        </p:grpSpPr>
        <p:sp>
          <p:nvSpPr>
            <p:cNvPr id="6" name="TextBox 6"/>
            <p:cNvSpPr txBox="1"/>
            <p:nvPr/>
          </p:nvSpPr>
          <p:spPr>
            <a:xfrm>
              <a:off x="2653797" y="-174609"/>
              <a:ext cx="10306486" cy="120183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tabLst/>
              </a:pPr>
              <a:r>
                <a:rPr lang="fr-FR" altLang="fr-FR" sz="4800" b="1" dirty="0"/>
                <a:t>INTRODUCTION </a:t>
              </a:r>
              <a:endParaRPr kumimoji="0" lang="fr-FR" altLang="fr-FR" sz="4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endParaRPr lang="fr-FR" altLang="fr-FR" sz="4800" b="1" dirty="0"/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kumimoji="0" lang="fr-FR" altLang="fr-FR" sz="4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rPr>
                <a:t>Titre du projet</a:t>
              </a:r>
              <a:r>
                <a:rPr kumimoji="0" lang="fr-FR" altLang="fr-FR" sz="4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rPr>
                <a:t> : Prédiction du Diabète via Deep Learning à grande échelle.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tabLst/>
              </a:pPr>
              <a:endParaRPr kumimoji="0" lang="fr-FR" altLang="fr-FR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kumimoji="0" lang="fr-FR" altLang="fr-FR" sz="4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rPr>
                <a:t>Contexte</a:t>
              </a:r>
              <a:r>
                <a:rPr kumimoji="0" lang="fr-FR" altLang="fr-FR" sz="4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rPr>
                <a:t> : Utilisation du dataset BRFSS 2015 (CDC).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tabLst/>
              </a:pPr>
              <a:endParaRPr kumimoji="0" lang="fr-FR" altLang="fr-FR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kumimoji="0" lang="fr-FR" altLang="fr-FR" sz="4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rPr>
                <a:t>Problématique</a:t>
              </a:r>
              <a:r>
                <a:rPr kumimoji="0" lang="fr-FR" altLang="fr-FR" sz="4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rPr>
                <a:t> : Comment identifier les facteurs de risque sur une population de +250 000 individus ?</a:t>
              </a:r>
            </a:p>
            <a:p>
              <a:pPr marL="0" lvl="0" indent="0" algn="l">
                <a:lnSpc>
                  <a:spcPts val="8309"/>
                </a:lnSpc>
                <a:spcBef>
                  <a:spcPct val="0"/>
                </a:spcBef>
              </a:pPr>
              <a:endParaRPr lang="en-US" sz="5400" u="none" dirty="0">
                <a:solidFill>
                  <a:srgbClr val="2B2B2B"/>
                </a:solidFill>
                <a:ea typeface="Agrandir"/>
                <a:cs typeface="Agrandir"/>
                <a:sym typeface="Agrandir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3277690"/>
              <a:ext cx="10306486" cy="56485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535"/>
                </a:lnSpc>
              </a:pPr>
              <a:r>
                <a:rPr lang="en-US" sz="2525" u="none" dirty="0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6298" y="1409700"/>
            <a:ext cx="19068044" cy="8288195"/>
            <a:chOff x="-1" y="3554313"/>
            <a:chExt cx="9535080" cy="9556832"/>
          </a:xfrm>
        </p:grpSpPr>
        <p:sp>
          <p:nvSpPr>
            <p:cNvPr id="3" name="TextBox 3"/>
            <p:cNvSpPr txBox="1"/>
            <p:nvPr/>
          </p:nvSpPr>
          <p:spPr>
            <a:xfrm>
              <a:off x="-1" y="3554313"/>
              <a:ext cx="8292193" cy="5811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</a:pPr>
              <a:endParaRPr lang="en-US" sz="2600" u="none" dirty="0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242886" y="3884095"/>
              <a:ext cx="8292193" cy="92270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tabLst/>
              </a:pPr>
              <a:r>
                <a:rPr kumimoji="0" lang="fr-FR" altLang="fr-FR" sz="44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rPr>
                <a:t>Exploration du Dataset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tabLst/>
              </a:pPr>
              <a:endParaRPr kumimoji="0" lang="fr-FR" altLang="fr-FR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kumimoji="0" lang="fr-FR" altLang="fr-FR" sz="4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rPr>
                <a:t>Volume de données :</a:t>
              </a:r>
              <a:r>
                <a:rPr kumimoji="0" lang="fr-FR" altLang="fr-FR" sz="4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rPr>
                <a:t> 253 680 entrées (Source : CDC / BRFSS 2015).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tabLst/>
              </a:pPr>
              <a:endParaRPr kumimoji="0" lang="fr-FR" altLang="fr-FR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kumimoji="0" lang="fr-FR" altLang="fr-FR" sz="4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rPr>
                <a:t>Variables prédictives (21) :</a:t>
              </a:r>
              <a:r>
                <a:rPr kumimoji="0" lang="fr-FR" altLang="fr-FR" sz="4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rPr>
                <a:t> Indicateurs de santé (IMC, Hypertension, Cholestérol), habitudes de vie (Tabagisme, Alcool, Activité physique) et facteurs démographiques (Âge, Revenus).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tabLst/>
              </a:pPr>
              <a:endParaRPr kumimoji="0" lang="fr-FR" altLang="fr-FR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kumimoji="0" lang="fr-FR" altLang="fr-FR" sz="4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rPr>
                <a:t>Analyse de la cible :</a:t>
              </a:r>
              <a:r>
                <a:rPr kumimoji="0" lang="fr-FR" altLang="fr-FR" sz="4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rPr>
                <a:t> Classification binaire (0 : Sain, 1 : Diabétique).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tabLst/>
              </a:pPr>
              <a:endParaRPr kumimoji="0" lang="fr-FR" altLang="fr-FR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kumimoji="0" lang="fr-FR" altLang="fr-FR" sz="4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rPr>
                <a:t>Prétraitement :</a:t>
              </a:r>
              <a:r>
                <a:rPr kumimoji="0" lang="fr-FR" altLang="fr-FR" sz="4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rPr>
                <a:t> * Standardisation des données (StandardScaler).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tabLst/>
              </a:pPr>
              <a:endParaRPr kumimoji="0" lang="fr-FR" altLang="fr-FR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  <a:p>
              <a:pPr lvl="1" eaLnBrk="0" fontAlgn="base" hangingPunct="0">
                <a:spcBef>
                  <a:spcPct val="0"/>
                </a:spcBef>
                <a:spcAft>
                  <a:spcPct val="0"/>
                </a:spcAft>
                <a:buFontTx/>
                <a:buChar char="•"/>
              </a:pPr>
              <a:r>
                <a:rPr kumimoji="0" lang="fr-FR" altLang="fr-FR" sz="4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rPr>
                <a:t>Conversion en tenseurs PyTorch pour exploitation GPU.</a:t>
              </a:r>
            </a:p>
          </p:txBody>
        </p:sp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3">
            <a:alphaModFix amt="50000"/>
          </a:blip>
          <a:srcRect/>
          <a:stretch>
            <a:fillRect/>
          </a:stretch>
        </p:blipFill>
        <p:spPr>
          <a:xfrm>
            <a:off x="-2868523" y="2438918"/>
            <a:ext cx="10541077" cy="10522453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-3463659" y="-599139"/>
            <a:ext cx="5865675" cy="5231058"/>
          </a:xfrm>
          <a:prstGeom prst="rect">
            <a:avLst/>
          </a:prstGeom>
        </p:spPr>
      </p:pic>
      <p:sp>
        <p:nvSpPr>
          <p:cNvPr id="10" name="Rectangle 1">
            <a:extLst>
              <a:ext uri="{FF2B5EF4-FFF2-40B4-BE49-F238E27FC236}">
                <a16:creationId xmlns:a16="http://schemas.microsoft.com/office/drawing/2014/main" id="{8EAA8748-DBE4-0A82-E913-B4FB9A718B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alphaModFix amt="25000"/>
          </a:blip>
          <a:srcRect/>
          <a:stretch>
            <a:fillRect/>
          </a:stretch>
        </p:blipFill>
        <p:spPr>
          <a:xfrm>
            <a:off x="-1662681" y="-6438340"/>
            <a:ext cx="13761077" cy="14153590"/>
          </a:xfrm>
          <a:prstGeom prst="rect">
            <a:avLst/>
          </a:prstGeom>
        </p:spPr>
      </p:pic>
      <p:grpSp>
        <p:nvGrpSpPr>
          <p:cNvPr id="3" name="Group 3"/>
          <p:cNvGrpSpPr/>
          <p:nvPr/>
        </p:nvGrpSpPr>
        <p:grpSpPr>
          <a:xfrm>
            <a:off x="670954" y="1043402"/>
            <a:ext cx="16321646" cy="6817379"/>
            <a:chOff x="-4262689" y="166354"/>
            <a:chExt cx="16280303" cy="6806312"/>
          </a:xfrm>
        </p:grpSpPr>
        <p:sp>
          <p:nvSpPr>
            <p:cNvPr id="4" name="TextBox 4"/>
            <p:cNvSpPr txBox="1"/>
            <p:nvPr/>
          </p:nvSpPr>
          <p:spPr>
            <a:xfrm>
              <a:off x="-4262689" y="166354"/>
              <a:ext cx="16280303" cy="680631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tabLst/>
              </a:pPr>
              <a:r>
                <a:rPr kumimoji="0" lang="fr-FR" altLang="fr-FR" sz="4000" b="1" i="0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rPr>
                <a:t>Analyse et gestion du déséquilibre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tabLst/>
              </a:pPr>
              <a:endParaRPr kumimoji="0" lang="fr-FR" altLang="fr-FR" sz="3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tabLst/>
              </a:pPr>
              <a:r>
                <a:rPr lang="fr-FR" altLang="fr-FR" sz="3800" b="1" dirty="0"/>
                <a:t>     </a:t>
              </a:r>
              <a:r>
                <a:rPr kumimoji="0" lang="fr-FR" altLang="fr-FR" sz="3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rPr>
                <a:t>Observation :</a:t>
              </a:r>
              <a:r>
                <a:rPr kumimoji="0" lang="fr-FR" altLang="fr-FR" sz="3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rPr>
                <a:t> Dataset fortement déséquilibré (~85% de cas négatifs / ~15% de cas positifs).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tabLst/>
              </a:pPr>
              <a:endParaRPr kumimoji="0" lang="fr-FR" altLang="fr-FR" sz="3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tabLst/>
              </a:pPr>
              <a:r>
                <a:rPr kumimoji="0" lang="fr-FR" altLang="fr-FR" sz="3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rPr>
                <a:t>      Risque :</a:t>
              </a:r>
              <a:r>
                <a:rPr kumimoji="0" lang="fr-FR" altLang="fr-FR" sz="3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rPr>
                <a:t> Un modèle biaisé pourrait prédire systématiquement "Sain" pour obtenir une haute accuracy.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tabLst/>
              </a:pPr>
              <a:endParaRPr kumimoji="0" lang="fr-FR" altLang="fr-FR" sz="3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tabLst/>
              </a:pPr>
              <a:r>
                <a:rPr kumimoji="0" lang="fr-FR" altLang="fr-FR" sz="3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rPr>
                <a:t>     Stratégie :</a:t>
              </a:r>
              <a:r>
                <a:rPr kumimoji="0" lang="fr-FR" altLang="fr-FR" sz="3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rPr>
                <a:t> Utilisation de la </a:t>
              </a:r>
              <a:r>
                <a:rPr kumimoji="0" lang="fr-FR" altLang="fr-FR" sz="3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rPr>
                <a:t>Matrice de confusion</a:t>
              </a:r>
              <a:r>
                <a:rPr kumimoji="0" lang="fr-FR" altLang="fr-FR" sz="3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rPr>
                <a:t> et du </a:t>
              </a:r>
              <a:r>
                <a:rPr kumimoji="0" lang="fr-FR" altLang="fr-FR" sz="3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rPr>
                <a:t>Recall</a:t>
              </a:r>
              <a:r>
                <a:rPr kumimoji="0" lang="fr-FR" altLang="fr-FR" sz="3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rPr>
                <a:t> plutôt que la simple accuracy pour valider la détection réelle des malades.</a:t>
              </a:r>
              <a:endParaRPr lang="en-US" sz="3800" b="1" u="none" dirty="0">
                <a:solidFill>
                  <a:srgbClr val="2B2B2B"/>
                </a:solidFill>
                <a:ea typeface="Agrandir"/>
                <a:cs typeface="Agrandir"/>
                <a:sym typeface="Agrandir"/>
              </a:endParaRPr>
            </a:p>
            <a:p>
              <a:pPr marL="0" lvl="0" indent="0" algn="ctr">
                <a:lnSpc>
                  <a:spcPts val="8399"/>
                </a:lnSpc>
                <a:spcBef>
                  <a:spcPct val="0"/>
                </a:spcBef>
              </a:pPr>
              <a:endParaRPr lang="en-US" sz="3800" u="none" dirty="0">
                <a:solidFill>
                  <a:srgbClr val="2B2B2B"/>
                </a:solidFill>
                <a:ea typeface="Agrandir"/>
                <a:cs typeface="Agrandir"/>
                <a:sym typeface="Agrandir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1819487"/>
              <a:ext cx="11287299" cy="5897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640"/>
                </a:lnSpc>
              </a:pPr>
              <a:endParaRPr lang="en-US" sz="2600" b="1" u="none" dirty="0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endParaRPr>
            </a:p>
          </p:txBody>
        </p:sp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4">
            <a:alphaModFix amt="25000"/>
          </a:blip>
          <a:srcRect/>
          <a:stretch>
            <a:fillRect/>
          </a:stretch>
        </p:blipFill>
        <p:spPr>
          <a:xfrm>
            <a:off x="11511932" y="6947324"/>
            <a:ext cx="8674222" cy="7652259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>
            <a:alphaModFix amt="25000"/>
          </a:blip>
          <a:srcRect/>
          <a:stretch>
            <a:fillRect/>
          </a:stretch>
        </p:blipFill>
        <p:spPr>
          <a:xfrm>
            <a:off x="15141061" y="2810706"/>
            <a:ext cx="6293877" cy="5612932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>
            <a:alphaModFix amt="25000"/>
          </a:blip>
          <a:srcRect/>
          <a:stretch>
            <a:fillRect/>
          </a:stretch>
        </p:blipFill>
        <p:spPr>
          <a:xfrm rot="-3435299">
            <a:off x="-3167656" y="638455"/>
            <a:ext cx="6335313" cy="7076795"/>
          </a:xfrm>
          <a:prstGeom prst="rect">
            <a:avLst/>
          </a:prstGeom>
        </p:spPr>
      </p:pic>
      <p:sp>
        <p:nvSpPr>
          <p:cNvPr id="9" name="Rectangle 1">
            <a:extLst>
              <a:ext uri="{FF2B5EF4-FFF2-40B4-BE49-F238E27FC236}">
                <a16:creationId xmlns:a16="http://schemas.microsoft.com/office/drawing/2014/main" id="{EAF3CFD8-C5D1-7368-8EA8-2CA3257D2F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32893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03664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38200" y="1074523"/>
            <a:ext cx="16611600" cy="94795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fr-FR" sz="4400" b="1" dirty="0"/>
              <a:t> Choix technique (Corrections techniques)</a:t>
            </a:r>
          </a:p>
          <a:p>
            <a:endParaRPr lang="fr-FR" sz="44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fr-FR" sz="4400" b="1" dirty="0"/>
              <a:t>Modèle :</a:t>
            </a:r>
            <a:r>
              <a:rPr lang="fr-FR" sz="4400" dirty="0"/>
              <a:t> Réseau de neurones multicouches (MLP).</a:t>
            </a:r>
          </a:p>
          <a:p>
            <a:endParaRPr lang="fr-FR" sz="4400" dirty="0"/>
          </a:p>
          <a:p>
            <a:pPr>
              <a:buFont typeface="Arial" panose="020B0604020202020204" pitchFamily="34" charset="0"/>
              <a:buChar char="•"/>
            </a:pPr>
            <a:r>
              <a:rPr lang="fr-FR" sz="4400" b="1" dirty="0"/>
              <a:t>Architecture :</a:t>
            </a:r>
            <a:r>
              <a:rPr lang="fr-FR" sz="4400" dirty="0"/>
              <a:t> 21 entrées → 128 neurones → 64 neurones → 2 sorties.</a:t>
            </a:r>
          </a:p>
          <a:p>
            <a:endParaRPr lang="fr-FR" sz="4400" dirty="0"/>
          </a:p>
          <a:p>
            <a:pPr>
              <a:buFont typeface="Arial" panose="020B0604020202020204" pitchFamily="34" charset="0"/>
              <a:buChar char="•"/>
            </a:pPr>
            <a:r>
              <a:rPr lang="fr-FR" sz="4400" b="1" dirty="0"/>
              <a:t>Fonctions clés :</a:t>
            </a:r>
            <a:endParaRPr lang="fr-FR" sz="4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4400" dirty="0"/>
              <a:t>Activation : </a:t>
            </a:r>
            <a:r>
              <a:rPr lang="fr-FR" sz="4400" b="1" dirty="0"/>
              <a:t>ReLU</a:t>
            </a:r>
            <a:r>
              <a:rPr lang="fr-FR" sz="4400" dirty="0"/>
              <a:t> (couches cachées) pour la gestion du gradient.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4400" dirty="0"/>
              <a:t>Perte : </a:t>
            </a:r>
            <a:r>
              <a:rPr lang="fr-FR" sz="4400" b="1" dirty="0"/>
              <a:t>CrossEntropyLoss</a:t>
            </a:r>
            <a:r>
              <a:rPr lang="fr-FR" sz="4400" dirty="0"/>
              <a:t> (optimisée pour la classification).</a:t>
            </a:r>
          </a:p>
          <a:p>
            <a:pPr lvl="1"/>
            <a:endParaRPr lang="fr-FR" sz="4400" dirty="0"/>
          </a:p>
          <a:p>
            <a:pPr>
              <a:buFont typeface="Arial" panose="020B0604020202020204" pitchFamily="34" charset="0"/>
              <a:buChar char="•"/>
            </a:pPr>
            <a:r>
              <a:rPr lang="fr-FR" sz="4400" b="1" dirty="0"/>
              <a:t>Optimiseur :</a:t>
            </a:r>
            <a:r>
              <a:rPr lang="fr-FR" sz="4400" dirty="0"/>
              <a:t> Adam (Learning Rate : 0.001).</a:t>
            </a:r>
          </a:p>
          <a:p>
            <a:endParaRPr lang="fr-FR" sz="4400" dirty="0"/>
          </a:p>
          <a:p>
            <a:pPr>
              <a:buFont typeface="Arial" panose="020B0604020202020204" pitchFamily="34" charset="0"/>
              <a:buChar char="•"/>
            </a:pPr>
            <a:r>
              <a:rPr lang="fr-FR" sz="4400" b="1" dirty="0"/>
              <a:t>Performance initiale :</a:t>
            </a:r>
            <a:r>
              <a:rPr lang="fr-FR" sz="4400" dirty="0"/>
              <a:t> </a:t>
            </a:r>
            <a:r>
              <a:rPr lang="fr-FR" sz="4400" b="1" dirty="0"/>
              <a:t>86,56 % d'accuracy.</a:t>
            </a:r>
            <a:endParaRPr lang="fr-FR" sz="44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fr-FR" altLang="fr-FR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>
            <a:alphaModFix amt="25000"/>
          </a:blip>
          <a:srcRect/>
          <a:stretch>
            <a:fillRect/>
          </a:stretch>
        </p:blipFill>
        <p:spPr>
          <a:xfrm>
            <a:off x="-4810715" y="2950641"/>
            <a:ext cx="9621431" cy="9789932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3">
            <a:alphaModFix amt="50000"/>
          </a:blip>
          <a:srcRect/>
          <a:stretch>
            <a:fillRect/>
          </a:stretch>
        </p:blipFill>
        <p:spPr>
          <a:xfrm rot="9720163">
            <a:off x="12600387" y="-3298660"/>
            <a:ext cx="8670039" cy="865472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F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1676400" y="6326985"/>
            <a:ext cx="4057650" cy="1171989"/>
            <a:chOff x="0" y="-133349"/>
            <a:chExt cx="5410200" cy="1562652"/>
          </a:xfrm>
        </p:grpSpPr>
        <p:sp>
          <p:nvSpPr>
            <p:cNvPr id="9" name="TextBox 9"/>
            <p:cNvSpPr txBox="1"/>
            <p:nvPr/>
          </p:nvSpPr>
          <p:spPr>
            <a:xfrm>
              <a:off x="0" y="-133349"/>
              <a:ext cx="5410200" cy="5962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710"/>
                </a:lnSpc>
                <a:spcBef>
                  <a:spcPct val="0"/>
                </a:spcBef>
              </a:pPr>
              <a:endParaRPr lang="en-US" sz="2650" u="none" dirty="0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899243"/>
              <a:ext cx="5410200" cy="5300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080"/>
                </a:lnSpc>
              </a:pPr>
              <a:endParaRPr lang="en-US" sz="2800" u="none" dirty="0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115174" y="7116083"/>
            <a:ext cx="4057651" cy="1148394"/>
            <a:chOff x="-1" y="-133350"/>
            <a:chExt cx="5410201" cy="1531192"/>
          </a:xfrm>
        </p:grpSpPr>
        <p:sp>
          <p:nvSpPr>
            <p:cNvPr id="12" name="TextBox 12"/>
            <p:cNvSpPr txBox="1"/>
            <p:nvPr/>
          </p:nvSpPr>
          <p:spPr>
            <a:xfrm>
              <a:off x="-1" y="-133350"/>
              <a:ext cx="5410198" cy="60255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ctr">
                <a:lnSpc>
                  <a:spcPts val="3710"/>
                </a:lnSpc>
                <a:spcBef>
                  <a:spcPct val="0"/>
                </a:spcBef>
              </a:pPr>
              <a:endParaRPr lang="en-US" sz="2650" u="none" dirty="0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899243"/>
              <a:ext cx="5410200" cy="49859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080"/>
                </a:lnSpc>
              </a:pPr>
              <a:endParaRPr lang="en-US" sz="2200" u="none" dirty="0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2300168" y="7116083"/>
            <a:ext cx="4387632" cy="1148393"/>
            <a:chOff x="0" y="-133349"/>
            <a:chExt cx="5850176" cy="1531191"/>
          </a:xfrm>
        </p:grpSpPr>
        <p:sp>
          <p:nvSpPr>
            <p:cNvPr id="15" name="TextBox 15"/>
            <p:cNvSpPr txBox="1"/>
            <p:nvPr/>
          </p:nvSpPr>
          <p:spPr>
            <a:xfrm>
              <a:off x="0" y="-133349"/>
              <a:ext cx="5850176" cy="60255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ctr">
                <a:lnSpc>
                  <a:spcPts val="3710"/>
                </a:lnSpc>
                <a:spcBef>
                  <a:spcPct val="0"/>
                </a:spcBef>
              </a:pPr>
              <a:endParaRPr lang="en-US" sz="2650" u="none" dirty="0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899243"/>
              <a:ext cx="5410200" cy="49859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080"/>
                </a:lnSpc>
              </a:pPr>
              <a:endParaRPr lang="en-US" sz="2200" u="none" dirty="0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endParaRP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762000" y="571500"/>
            <a:ext cx="17526000" cy="92332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fr-FR" sz="4000" b="1" dirty="0"/>
              <a:t>Stratégie d'Amélioration (Le "Fine-Tuning")</a:t>
            </a:r>
          </a:p>
          <a:p>
            <a:endParaRPr lang="fr-FR" sz="4000" dirty="0"/>
          </a:p>
          <a:p>
            <a:r>
              <a:rPr lang="fr-FR" sz="4000" b="1" dirty="0"/>
              <a:t>Objectif :</a:t>
            </a:r>
            <a:r>
              <a:rPr lang="fr-FR" sz="4000" dirty="0"/>
              <a:t> Optimisation des hyperparamètres pour améliorer la sensibilité du modèle.</a:t>
            </a:r>
          </a:p>
          <a:p>
            <a:endParaRPr lang="fr-FR" sz="4000" dirty="0"/>
          </a:p>
          <a:p>
            <a:r>
              <a:rPr lang="fr-FR" sz="4000" b="1" dirty="0"/>
              <a:t>Modifications apportées :</a:t>
            </a:r>
          </a:p>
          <a:p>
            <a:endParaRPr lang="fr-FR" sz="4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4000" b="1" dirty="0"/>
              <a:t>Profondeur :</a:t>
            </a:r>
            <a:r>
              <a:rPr lang="fr-FR" sz="4000" dirty="0"/>
              <a:t> Passage à 3 couches cachées (</a:t>
            </a:r>
            <a:r>
              <a:rPr lang="fr-FR" sz="4000" b="1" dirty="0"/>
              <a:t>256-128-64) </a:t>
            </a:r>
            <a:r>
              <a:rPr lang="fr-FR" sz="4000" dirty="0"/>
              <a:t>pour capter des relations non-linéaires complexes.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4000" b="1" dirty="0"/>
              <a:t>Apprentissage :</a:t>
            </a:r>
            <a:r>
              <a:rPr lang="fr-FR" sz="4000" dirty="0"/>
              <a:t> Réduction du Learning Rate à </a:t>
            </a:r>
            <a:r>
              <a:rPr lang="fr-FR" sz="4000" b="1" dirty="0"/>
              <a:t>0.0005</a:t>
            </a:r>
            <a:r>
              <a:rPr lang="fr-FR" sz="4000" dirty="0"/>
              <a:t> pour une convergence plus fine.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4000" b="1" dirty="0"/>
              <a:t>Entraînement :</a:t>
            </a:r>
            <a:r>
              <a:rPr lang="fr-FR" sz="4000" dirty="0"/>
              <a:t> Réduction du Batch Size à </a:t>
            </a:r>
            <a:r>
              <a:rPr lang="fr-FR" sz="4000" b="1" dirty="0"/>
              <a:t>64</a:t>
            </a:r>
            <a:r>
              <a:rPr lang="fr-FR" sz="4000" dirty="0"/>
              <a:t> pour augmenter la fréquence des mises à jour des poids.</a:t>
            </a:r>
          </a:p>
          <a:p>
            <a:pPr lvl="1"/>
            <a:endParaRPr lang="fr-FR" sz="4000" dirty="0"/>
          </a:p>
          <a:p>
            <a:r>
              <a:rPr lang="fr-FR" sz="4000" dirty="0"/>
              <a:t>Résultat final : </a:t>
            </a:r>
            <a:r>
              <a:rPr lang="fr-FR" sz="4000" b="1" dirty="0"/>
              <a:t>86,65 % d'accuracy</a:t>
            </a:r>
            <a:endParaRPr lang="fr-FR" sz="40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sz="4000" u="none" dirty="0">
              <a:solidFill>
                <a:srgbClr val="2B2B2B"/>
              </a:solidFill>
              <a:ea typeface="Agrandir"/>
              <a:cs typeface="Agrandir"/>
              <a:sym typeface="Agrandir"/>
            </a:endParaRPr>
          </a:p>
        </p:txBody>
      </p:sp>
      <p:sp>
        <p:nvSpPr>
          <p:cNvPr id="24" name="Rectangle 1">
            <a:extLst>
              <a:ext uri="{FF2B5EF4-FFF2-40B4-BE49-F238E27FC236}">
                <a16:creationId xmlns:a16="http://schemas.microsoft.com/office/drawing/2014/main" id="{6A958513-D609-1947-3234-FED0057CE0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24878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alphaModFix amt="25000"/>
          </a:blip>
          <a:srcRect/>
          <a:stretch>
            <a:fillRect/>
          </a:stretch>
        </p:blipFill>
        <p:spPr>
          <a:xfrm>
            <a:off x="-1662681" y="-6438340"/>
            <a:ext cx="13761077" cy="14153590"/>
          </a:xfrm>
          <a:prstGeom prst="rect">
            <a:avLst/>
          </a:prstGeom>
        </p:spPr>
      </p:pic>
      <p:grpSp>
        <p:nvGrpSpPr>
          <p:cNvPr id="3" name="Group 3"/>
          <p:cNvGrpSpPr/>
          <p:nvPr/>
        </p:nvGrpSpPr>
        <p:grpSpPr>
          <a:xfrm>
            <a:off x="161119" y="555004"/>
            <a:ext cx="18126881" cy="17613411"/>
            <a:chOff x="-6333524" y="-1372613"/>
            <a:chExt cx="24169173" cy="23484554"/>
          </a:xfrm>
        </p:grpSpPr>
        <p:sp>
          <p:nvSpPr>
            <p:cNvPr id="4" name="TextBox 4"/>
            <p:cNvSpPr txBox="1"/>
            <p:nvPr/>
          </p:nvSpPr>
          <p:spPr>
            <a:xfrm>
              <a:off x="-6333524" y="-1372613"/>
              <a:ext cx="24169173" cy="2348455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3600" b="1" u="none" dirty="0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 </a:t>
              </a:r>
              <a:r>
                <a:rPr kumimoji="0" lang="fr-FR" altLang="fr-FR" sz="36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Analyse des Performances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fr-FR" altLang="fr-FR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fr-FR" altLang="fr-FR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tabLst/>
              </a:pPr>
              <a:endParaRPr kumimoji="0" lang="fr-FR" altLang="fr-F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endParaRPr lang="fr-FR" altLang="fr-FR" sz="2400" dirty="0">
                <a:latin typeface="Arial" panose="020B0604020202020204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endParaRPr kumimoji="0" lang="fr-FR" altLang="fr-F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endParaRPr lang="fr-FR" altLang="fr-FR" sz="2400" dirty="0">
                <a:latin typeface="Arial" panose="020B0604020202020204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endParaRPr kumimoji="0" lang="fr-FR" altLang="fr-F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endParaRPr lang="fr-FR" altLang="fr-FR" sz="2400" dirty="0">
                <a:latin typeface="Arial" panose="020B0604020202020204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endParaRPr kumimoji="0" lang="fr-FR" altLang="fr-F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endParaRPr lang="fr-FR" altLang="fr-FR" sz="2400" dirty="0">
                <a:latin typeface="Arial" panose="020B0604020202020204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endParaRPr kumimoji="0" lang="fr-FR" altLang="fr-F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endParaRPr lang="fr-FR" altLang="fr-FR" sz="2400" dirty="0">
                <a:latin typeface="Arial" panose="020B0604020202020204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endParaRPr kumimoji="0" lang="fr-FR" altLang="fr-F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endParaRPr lang="fr-FR" altLang="fr-FR" sz="2400" dirty="0">
                <a:latin typeface="Arial" panose="020B0604020202020204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endParaRPr kumimoji="0" lang="fr-FR" altLang="fr-F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endParaRPr lang="fr-FR" altLang="fr-FR" sz="2400" dirty="0">
                <a:latin typeface="Arial" panose="020B0604020202020204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endParaRPr kumimoji="0" lang="fr-FR" altLang="fr-F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endParaRPr kumimoji="0" lang="fr-FR" altLang="fr-F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endParaRPr lang="fr-FR" altLang="fr-FR" sz="2400" dirty="0">
                <a:latin typeface="Arial" panose="020B0604020202020204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endParaRPr kumimoji="0" lang="fr-FR" altLang="fr-F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endParaRPr lang="fr-FR" sz="2400" b="1" dirty="0"/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tabLst/>
              </a:pPr>
              <a:r>
                <a:rPr lang="fr-FR" sz="3200" b="1" dirty="0"/>
                <a:t>Courbe de Loss :</a:t>
              </a:r>
              <a:r>
                <a:rPr lang="fr-FR" sz="3200" dirty="0"/>
                <a:t> Décroissance régulière sans divergence, confirmant l'absence de sur-apprentissage (overfitting)</a:t>
              </a:r>
              <a:endParaRPr kumimoji="0" lang="fr-FR" altLang="fr-F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endParaRPr lang="fr-FR" altLang="fr-FR" sz="2800" dirty="0">
                <a:latin typeface="Arial" panose="020B0604020202020204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endParaRPr kumimoji="0" lang="fr-FR" altLang="fr-F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tabLst/>
              </a:pPr>
              <a:endParaRPr lang="fr-FR" altLang="fr-FR" sz="2800" dirty="0">
                <a:latin typeface="Arial" panose="020B0604020202020204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tabLst/>
              </a:pPr>
              <a:endParaRPr lang="fr-FR" altLang="fr-FR" sz="2800" dirty="0">
                <a:latin typeface="Arial" panose="020B0604020202020204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tabLst/>
              </a:pPr>
              <a:endParaRPr lang="fr-FR" altLang="fr-FR" sz="2800" dirty="0">
                <a:latin typeface="Arial" panose="020B0604020202020204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tabLst/>
              </a:pPr>
              <a:endParaRPr kumimoji="0" lang="fr-FR" altLang="fr-F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tabLst/>
              </a:pPr>
              <a:endParaRPr lang="fr-FR" altLang="fr-FR" sz="2800" dirty="0">
                <a:latin typeface="Arial" panose="020B0604020202020204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tabLst/>
              </a:pPr>
              <a:endParaRPr kumimoji="0" lang="fr-FR" altLang="fr-F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tabLst/>
              </a:pPr>
              <a:endParaRPr kumimoji="0" lang="fr-FR" altLang="fr-F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endParaRPr lang="fr-FR" altLang="fr-FR" sz="3600" dirty="0">
                <a:latin typeface="Arial" panose="020B0604020202020204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tabLst/>
              </a:pPr>
              <a:r>
                <a:rPr kumimoji="0" lang="fr-FR" altLang="fr-FR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 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endParaRPr lang="fr-FR" altLang="fr-FR" sz="3600" dirty="0">
                <a:latin typeface="Arial" panose="020B0604020202020204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endParaRPr kumimoji="0" lang="fr-FR" altLang="fr-FR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endParaRPr lang="fr-FR" altLang="fr-FR" sz="3600" b="1" dirty="0">
                <a:latin typeface="Arial" panose="020B0604020202020204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endParaRPr kumimoji="0" lang="fr-FR" altLang="fr-FR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  <a:p>
              <a:pPr marL="0" lvl="0" indent="0" algn="ctr">
                <a:lnSpc>
                  <a:spcPts val="8399"/>
                </a:lnSpc>
                <a:spcBef>
                  <a:spcPct val="0"/>
                </a:spcBef>
              </a:pPr>
              <a:endParaRPr lang="en-US" sz="3600" u="none" dirty="0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1819487"/>
              <a:ext cx="11287299" cy="5334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sz="2600" b="1" u="none" dirty="0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endParaRPr>
            </a:p>
          </p:txBody>
        </p:sp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4">
            <a:alphaModFix amt="25000"/>
          </a:blip>
          <a:srcRect/>
          <a:stretch>
            <a:fillRect/>
          </a:stretch>
        </p:blipFill>
        <p:spPr>
          <a:xfrm>
            <a:off x="11511932" y="6947324"/>
            <a:ext cx="8674222" cy="7652259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>
            <a:alphaModFix amt="25000"/>
          </a:blip>
          <a:srcRect/>
          <a:stretch>
            <a:fillRect/>
          </a:stretch>
        </p:blipFill>
        <p:spPr>
          <a:xfrm>
            <a:off x="15141061" y="2810706"/>
            <a:ext cx="6293877" cy="5612932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>
            <a:alphaModFix amt="25000"/>
          </a:blip>
          <a:srcRect/>
          <a:stretch>
            <a:fillRect/>
          </a:stretch>
        </p:blipFill>
        <p:spPr>
          <a:xfrm rot="-3435299">
            <a:off x="-2904143" y="968735"/>
            <a:ext cx="6335313" cy="7076795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3A15B8DF-B7A3-C185-3A37-72ACC88CFDA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120" y="1638300"/>
            <a:ext cx="17745880" cy="7162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75373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alphaModFix amt="25000"/>
          </a:blip>
          <a:srcRect/>
          <a:stretch>
            <a:fillRect/>
          </a:stretch>
        </p:blipFill>
        <p:spPr>
          <a:xfrm>
            <a:off x="-1662681" y="-6438340"/>
            <a:ext cx="13761077" cy="14153590"/>
          </a:xfrm>
          <a:prstGeom prst="rect">
            <a:avLst/>
          </a:prstGeom>
        </p:spPr>
      </p:pic>
      <p:grpSp>
        <p:nvGrpSpPr>
          <p:cNvPr id="3" name="Group 3"/>
          <p:cNvGrpSpPr/>
          <p:nvPr/>
        </p:nvGrpSpPr>
        <p:grpSpPr>
          <a:xfrm>
            <a:off x="161119" y="555004"/>
            <a:ext cx="18126881" cy="18105854"/>
            <a:chOff x="-6333524" y="-1372613"/>
            <a:chExt cx="24169173" cy="24141145"/>
          </a:xfrm>
        </p:grpSpPr>
        <p:sp>
          <p:nvSpPr>
            <p:cNvPr id="4" name="TextBox 4"/>
            <p:cNvSpPr txBox="1"/>
            <p:nvPr/>
          </p:nvSpPr>
          <p:spPr>
            <a:xfrm>
              <a:off x="-6333524" y="-1372613"/>
              <a:ext cx="24169173" cy="2414114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3600" b="1" u="none" dirty="0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 </a:t>
              </a:r>
              <a:r>
                <a:rPr kumimoji="0" lang="fr-FR" altLang="fr-FR" sz="36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Analyse des Performances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fr-FR" altLang="fr-FR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fr-FR" altLang="fr-FR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tabLst/>
              </a:pPr>
              <a:endParaRPr kumimoji="0" lang="fr-FR" altLang="fr-F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endParaRPr lang="fr-FR" altLang="fr-FR" sz="2400" dirty="0">
                <a:latin typeface="Arial" panose="020B0604020202020204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endParaRPr kumimoji="0" lang="fr-FR" altLang="fr-F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endParaRPr lang="fr-FR" altLang="fr-FR" sz="2400" dirty="0">
                <a:latin typeface="Arial" panose="020B0604020202020204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endParaRPr kumimoji="0" lang="fr-FR" altLang="fr-F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endParaRPr lang="fr-FR" altLang="fr-FR" sz="2400" dirty="0">
                <a:latin typeface="Arial" panose="020B0604020202020204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endParaRPr kumimoji="0" lang="fr-FR" altLang="fr-F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endParaRPr lang="fr-FR" altLang="fr-FR" sz="2400" dirty="0">
                <a:latin typeface="Arial" panose="020B0604020202020204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endParaRPr kumimoji="0" lang="fr-FR" altLang="fr-F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endParaRPr lang="fr-FR" altLang="fr-FR" sz="2400" dirty="0">
                <a:latin typeface="Arial" panose="020B0604020202020204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endParaRPr kumimoji="0" lang="fr-FR" altLang="fr-F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endParaRPr lang="fr-FR" altLang="fr-FR" sz="2400" dirty="0">
                <a:latin typeface="Arial" panose="020B0604020202020204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endParaRPr kumimoji="0" lang="fr-FR" altLang="fr-F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endParaRPr lang="fr-FR" altLang="fr-FR" sz="2400" dirty="0">
                <a:latin typeface="Arial" panose="020B0604020202020204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endParaRPr kumimoji="0" lang="fr-FR" altLang="fr-F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endParaRPr kumimoji="0" lang="fr-FR" altLang="fr-F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endParaRPr lang="fr-FR" altLang="fr-FR" sz="2400" dirty="0">
                <a:latin typeface="Arial" panose="020B0604020202020204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endParaRPr kumimoji="0" lang="fr-FR" altLang="fr-F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tabLst/>
              </a:pPr>
              <a:endParaRPr lang="fr-FR" sz="2400" b="1" dirty="0"/>
            </a:p>
            <a:p>
              <a:r>
                <a:rPr lang="fr-FR" sz="3500" b="1" dirty="0"/>
                <a:t>Matrice de Confusion : </a:t>
              </a:r>
              <a:r>
                <a:rPr lang="fr-FR" sz="3500" dirty="0"/>
                <a:t>Capacité de détection des cas positifs validée malgré le déséquilibre initial.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tabLst/>
              </a:pPr>
              <a:endParaRPr kumimoji="0" lang="fr-FR" altLang="fr-F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endParaRPr lang="fr-FR" altLang="fr-FR" sz="2800" dirty="0">
                <a:latin typeface="Arial" panose="020B0604020202020204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endParaRPr kumimoji="0" lang="fr-FR" altLang="fr-F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tabLst/>
              </a:pPr>
              <a:endParaRPr lang="fr-FR" altLang="fr-FR" sz="2800" dirty="0">
                <a:latin typeface="Arial" panose="020B0604020202020204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tabLst/>
              </a:pPr>
              <a:endParaRPr lang="fr-FR" altLang="fr-FR" sz="2800" dirty="0">
                <a:latin typeface="Arial" panose="020B0604020202020204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tabLst/>
              </a:pPr>
              <a:endParaRPr lang="fr-FR" altLang="fr-FR" sz="2800" dirty="0">
                <a:latin typeface="Arial" panose="020B0604020202020204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tabLst/>
              </a:pPr>
              <a:endParaRPr kumimoji="0" lang="fr-FR" altLang="fr-F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tabLst/>
              </a:pPr>
              <a:endParaRPr lang="fr-FR" altLang="fr-FR" sz="2800" dirty="0">
                <a:latin typeface="Arial" panose="020B0604020202020204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tabLst/>
              </a:pPr>
              <a:endParaRPr kumimoji="0" lang="fr-FR" altLang="fr-F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tabLst/>
              </a:pPr>
              <a:endParaRPr kumimoji="0" lang="fr-FR" altLang="fr-F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endParaRPr lang="fr-FR" altLang="fr-FR" sz="3600" dirty="0">
                <a:latin typeface="Arial" panose="020B0604020202020204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tabLst/>
              </a:pPr>
              <a:r>
                <a:rPr kumimoji="0" lang="fr-FR" altLang="fr-FR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 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endParaRPr lang="fr-FR" altLang="fr-FR" sz="3600" dirty="0">
                <a:latin typeface="Arial" panose="020B0604020202020204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endParaRPr kumimoji="0" lang="fr-FR" altLang="fr-FR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endParaRPr lang="fr-FR" altLang="fr-FR" sz="3600" b="1" dirty="0">
                <a:latin typeface="Arial" panose="020B0604020202020204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endParaRPr kumimoji="0" lang="fr-FR" altLang="fr-FR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  <a:p>
              <a:pPr marL="0" lvl="0" indent="0" algn="ctr">
                <a:lnSpc>
                  <a:spcPts val="8399"/>
                </a:lnSpc>
                <a:spcBef>
                  <a:spcPct val="0"/>
                </a:spcBef>
              </a:pPr>
              <a:endParaRPr lang="en-US" sz="3600" u="none" dirty="0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1819487"/>
              <a:ext cx="11287299" cy="5334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sz="2600" b="1" u="none" dirty="0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endParaRPr>
            </a:p>
          </p:txBody>
        </p:sp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4">
            <a:alphaModFix amt="25000"/>
          </a:blip>
          <a:srcRect/>
          <a:stretch>
            <a:fillRect/>
          </a:stretch>
        </p:blipFill>
        <p:spPr>
          <a:xfrm>
            <a:off x="11511932" y="6947324"/>
            <a:ext cx="8674222" cy="7652259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>
            <a:alphaModFix amt="25000"/>
          </a:blip>
          <a:srcRect/>
          <a:stretch>
            <a:fillRect/>
          </a:stretch>
        </p:blipFill>
        <p:spPr>
          <a:xfrm>
            <a:off x="15141061" y="2810706"/>
            <a:ext cx="6293877" cy="5612932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>
            <a:alphaModFix amt="25000"/>
          </a:blip>
          <a:srcRect/>
          <a:stretch>
            <a:fillRect/>
          </a:stretch>
        </p:blipFill>
        <p:spPr>
          <a:xfrm rot="-3435299">
            <a:off x="-2904143" y="968735"/>
            <a:ext cx="6335313" cy="7076795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3DBF0E95-3CF7-B57A-A44F-1F63F24C861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119" y="1485900"/>
            <a:ext cx="16983881" cy="7315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77929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25000"/>
          </a:blip>
          <a:srcRect/>
          <a:stretch>
            <a:fillRect/>
          </a:stretch>
        </p:blipFill>
        <p:spPr>
          <a:xfrm>
            <a:off x="-1662681" y="-6438340"/>
            <a:ext cx="13761077" cy="14153590"/>
          </a:xfrm>
          <a:prstGeom prst="rect">
            <a:avLst/>
          </a:prstGeom>
        </p:spPr>
      </p:pic>
      <p:grpSp>
        <p:nvGrpSpPr>
          <p:cNvPr id="3" name="Group 3"/>
          <p:cNvGrpSpPr/>
          <p:nvPr/>
        </p:nvGrpSpPr>
        <p:grpSpPr>
          <a:xfrm>
            <a:off x="4911263" y="4076303"/>
            <a:ext cx="8465475" cy="2126223"/>
            <a:chOff x="0" y="-190500"/>
            <a:chExt cx="11287299" cy="2834963"/>
          </a:xfrm>
        </p:grpSpPr>
        <p:sp>
          <p:nvSpPr>
            <p:cNvPr id="4" name="TextBox 4"/>
            <p:cNvSpPr txBox="1"/>
            <p:nvPr/>
          </p:nvSpPr>
          <p:spPr>
            <a:xfrm>
              <a:off x="0" y="-190500"/>
              <a:ext cx="11287299" cy="283496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8399"/>
                </a:lnSpc>
                <a:spcBef>
                  <a:spcPct val="0"/>
                </a:spcBef>
              </a:pPr>
              <a:r>
                <a:rPr lang="en-US" sz="7200" b="1" u="none" dirty="0">
                  <a:solidFill>
                    <a:srgbClr val="2B2B2B"/>
                  </a:solidFill>
                  <a:ea typeface="Agrandir"/>
                  <a:cs typeface="Agrandir"/>
                  <a:sym typeface="Agrandir"/>
                </a:rPr>
                <a:t>Conclusion</a:t>
              </a:r>
            </a:p>
            <a:p>
              <a:pPr marL="0" lvl="0" indent="0" algn="ctr">
                <a:lnSpc>
                  <a:spcPts val="8399"/>
                </a:lnSpc>
                <a:spcBef>
                  <a:spcPct val="0"/>
                </a:spcBef>
              </a:pPr>
              <a:endParaRPr lang="en-US" sz="6999" u="none" dirty="0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1819487"/>
              <a:ext cx="11287299" cy="5897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640"/>
                </a:lnSpc>
              </a:pPr>
              <a:endParaRPr lang="en-US" sz="2600" b="1" u="none" dirty="0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endParaRPr>
            </a:p>
          </p:txBody>
        </p:sp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3">
            <a:alphaModFix amt="25000"/>
          </a:blip>
          <a:srcRect/>
          <a:stretch>
            <a:fillRect/>
          </a:stretch>
        </p:blipFill>
        <p:spPr>
          <a:xfrm>
            <a:off x="11511932" y="6947324"/>
            <a:ext cx="8674222" cy="7652259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>
            <a:alphaModFix amt="25000"/>
          </a:blip>
          <a:srcRect/>
          <a:stretch>
            <a:fillRect/>
          </a:stretch>
        </p:blipFill>
        <p:spPr>
          <a:xfrm>
            <a:off x="15141061" y="2810706"/>
            <a:ext cx="6293877" cy="5612932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>
            <a:alphaModFix amt="25000"/>
          </a:blip>
          <a:srcRect/>
          <a:stretch>
            <a:fillRect/>
          </a:stretch>
        </p:blipFill>
        <p:spPr>
          <a:xfrm rot="-3435299">
            <a:off x="-3167656" y="638455"/>
            <a:ext cx="6335313" cy="707679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25000"/>
          </a:blip>
          <a:srcRect/>
          <a:stretch>
            <a:fillRect/>
          </a:stretch>
        </p:blipFill>
        <p:spPr>
          <a:xfrm>
            <a:off x="-1662681" y="-6438340"/>
            <a:ext cx="13761077" cy="14153590"/>
          </a:xfrm>
          <a:prstGeom prst="rect">
            <a:avLst/>
          </a:prstGeom>
        </p:spPr>
      </p:pic>
      <p:grpSp>
        <p:nvGrpSpPr>
          <p:cNvPr id="3" name="Group 3"/>
          <p:cNvGrpSpPr/>
          <p:nvPr/>
        </p:nvGrpSpPr>
        <p:grpSpPr>
          <a:xfrm>
            <a:off x="4911263" y="4076303"/>
            <a:ext cx="8465475" cy="2410173"/>
            <a:chOff x="0" y="-190500"/>
            <a:chExt cx="11287299" cy="3213564"/>
          </a:xfrm>
        </p:grpSpPr>
        <p:sp>
          <p:nvSpPr>
            <p:cNvPr id="4" name="TextBox 4"/>
            <p:cNvSpPr txBox="1"/>
            <p:nvPr/>
          </p:nvSpPr>
          <p:spPr>
            <a:xfrm>
              <a:off x="0" y="-190500"/>
              <a:ext cx="11287299" cy="13974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8399"/>
                </a:lnSpc>
                <a:spcBef>
                  <a:spcPct val="0"/>
                </a:spcBef>
              </a:pPr>
              <a:r>
                <a:rPr lang="en-US" sz="6999" u="none" dirty="0">
                  <a:solidFill>
                    <a:srgbClr val="2B2B2B"/>
                  </a:solidFill>
                  <a:ea typeface="Agrandir"/>
                  <a:cs typeface="Agrandir"/>
                  <a:sym typeface="Agrandir"/>
                </a:rPr>
                <a:t>Merci</a:t>
              </a:r>
              <a:r>
                <a:rPr lang="en-US" sz="6999" u="none" dirty="0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 !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1819487"/>
              <a:ext cx="11287299" cy="12035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640"/>
                </a:lnSpc>
              </a:pPr>
              <a:r>
                <a:rPr lang="fr-FR" sz="2800" b="1" dirty="0"/>
                <a:t>Les études représentent un défi, mais la passion pour la Data facilite le chemin</a:t>
              </a:r>
              <a:r>
                <a:rPr lang="en-US" sz="2600" b="1" u="none" dirty="0">
                  <a:solidFill>
                    <a:srgbClr val="2B2B2B"/>
                  </a:solidFill>
                  <a:ea typeface="Agrandir"/>
                  <a:cs typeface="Agrandir"/>
                  <a:sym typeface="Agrandir"/>
                </a:rPr>
                <a:t>.</a:t>
              </a:r>
            </a:p>
          </p:txBody>
        </p:sp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3">
            <a:alphaModFix amt="25000"/>
          </a:blip>
          <a:srcRect/>
          <a:stretch>
            <a:fillRect/>
          </a:stretch>
        </p:blipFill>
        <p:spPr>
          <a:xfrm>
            <a:off x="11511932" y="6947324"/>
            <a:ext cx="8674222" cy="7652259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>
            <a:alphaModFix amt="25000"/>
          </a:blip>
          <a:srcRect/>
          <a:stretch>
            <a:fillRect/>
          </a:stretch>
        </p:blipFill>
        <p:spPr>
          <a:xfrm>
            <a:off x="15141061" y="2810706"/>
            <a:ext cx="6293877" cy="5612932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>
            <a:alphaModFix amt="25000"/>
          </a:blip>
          <a:srcRect/>
          <a:stretch>
            <a:fillRect/>
          </a:stretch>
        </p:blipFill>
        <p:spPr>
          <a:xfrm rot="-3435299">
            <a:off x="-3167656" y="638455"/>
            <a:ext cx="6335313" cy="7076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99154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4368</TotalTime>
  <Words>439</Words>
  <Application>Microsoft Office PowerPoint</Application>
  <PresentationFormat>Personnalisé</PresentationFormat>
  <Paragraphs>138</Paragraphs>
  <Slides>10</Slides>
  <Notes>6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4" baseType="lpstr">
      <vt:lpstr>Agrandir</vt:lpstr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Basique et Simple Gouttes Pastel</dc:title>
  <dc:creator>Ruben O. Gonzalez</dc:creator>
  <cp:lastModifiedBy>Ahmed Adio PHILIPPE</cp:lastModifiedBy>
  <cp:revision>8</cp:revision>
  <dcterms:created xsi:type="dcterms:W3CDTF">2006-08-16T00:00:00Z</dcterms:created>
  <dcterms:modified xsi:type="dcterms:W3CDTF">2026-01-30T09:43:11Z</dcterms:modified>
  <dc:identifier>DAG_mE3EpVY</dc:identifier>
</cp:coreProperties>
</file>